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3.jpg" ContentType="image/jpeg"/>
  <Override PartName="/ppt/media/image1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65" r:id="rId5"/>
    <p:sldId id="257" r:id="rId6"/>
    <p:sldId id="258" r:id="rId7"/>
    <p:sldId id="259" r:id="rId8"/>
    <p:sldId id="266" r:id="rId9"/>
    <p:sldId id="267" r:id="rId10"/>
    <p:sldId id="268" r:id="rId11"/>
    <p:sldId id="269" r:id="rId12"/>
    <p:sldId id="271" r:id="rId13"/>
    <p:sldId id="272" r:id="rId14"/>
    <p:sldId id="270" r:id="rId15"/>
    <p:sldId id="274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A19498-19FD-4AA8-B331-797971ABB394}">
          <p14:sldIdLst>
            <p14:sldId id="265"/>
            <p14:sldId id="257"/>
            <p14:sldId id="258"/>
            <p14:sldId id="259"/>
            <p14:sldId id="266"/>
          </p14:sldIdLst>
        </p14:section>
        <p14:section name="Untitled Section" id="{1991B243-19A5-46A3-8906-20B86825B9A5}">
          <p14:sldIdLst>
            <p14:sldId id="267"/>
            <p14:sldId id="268"/>
            <p14:sldId id="269"/>
            <p14:sldId id="271"/>
            <p14:sldId id="272"/>
            <p14:sldId id="270"/>
            <p14:sldId id="274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4/9/2021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4/9/2021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4/9/2021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4/9/2021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4/9/2021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Ultrasonic navigation system for blind people</a:t>
            </a:r>
            <a:endParaRPr lang="en-US" dirty="0"/>
          </a:p>
        </p:txBody>
      </p:sp>
      <p:pic>
        <p:nvPicPr>
          <p:cNvPr id="5" name="Graphic 4" descr="Brain in head icon&#10;">
            <a:extLst>
              <a:ext uri="{FF2B5EF4-FFF2-40B4-BE49-F238E27FC236}">
                <a16:creationId xmlns:a16="http://schemas.microsoft.com/office/drawing/2014/main" id="{D011E263-3212-4780-A140-E652B108B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7471" y="1989000"/>
            <a:ext cx="1440000" cy="1440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509261"/>
            <a:ext cx="8637072" cy="1458155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900" b="1" u="sng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 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dhurat Jaydeep dinesh</a:t>
            </a:r>
          </a:p>
          <a:p>
            <a:pPr marL="285750" indent="-285750">
              <a:buFontTx/>
              <a:buChar char="-"/>
            </a:pPr>
            <a:r>
              <a:rPr lang="en-US" sz="900" b="1" u="sng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Roll no 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12</a:t>
            </a:r>
          </a:p>
          <a:p>
            <a:pPr marL="285750" indent="-285750">
              <a:buFontTx/>
              <a:buChar char="-"/>
            </a:pPr>
            <a:r>
              <a:rPr lang="en-US" sz="900" b="1" u="sng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Semester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VI </a:t>
            </a:r>
          </a:p>
          <a:p>
            <a:pPr marL="285750" indent="-285750">
              <a:buFontTx/>
              <a:buChar char="-"/>
            </a:pPr>
            <a:r>
              <a:rPr lang="en-US" sz="900" b="1" u="sng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Department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Computer Science</a:t>
            </a:r>
            <a:endParaRPr lang="en-US" sz="900" b="1" dirty="0" smtClean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900" b="1" u="sng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Academic Year  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sz="900" b="1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2020-21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81038" y="0"/>
            <a:ext cx="1210962" cy="238898"/>
          </a:xfrm>
          <a:prstGeom prst="rect">
            <a:avLst/>
          </a:prstGeom>
          <a:solidFill>
            <a:srgbClr val="B71E4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latin typeface="Snap ITC" panose="04040A07060A02020202" pitchFamily="82" charset="0"/>
              </a:rPr>
              <a:t>10</a:t>
            </a:r>
            <a:r>
              <a:rPr lang="en-US" sz="1050" dirty="0" smtClean="0">
                <a:latin typeface="Snap ITC" panose="04040A07060A02020202" pitchFamily="82" charset="0"/>
              </a:rPr>
              <a:t>-04-2021</a:t>
            </a:r>
            <a:endParaRPr lang="en-US" sz="105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00035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pic>
        <p:nvPicPr>
          <p:cNvPr id="4" name="Graphic 3" descr="Lightbulb icon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This project is built to aid the blind so that they may walk easily in urban areas and avoid obstacles using special </a:t>
            </a:r>
            <a:r>
              <a:rPr lang="en-US" b="1" u="sng" dirty="0">
                <a:latin typeface="Baskerville Old Face" panose="02020602080505020303" pitchFamily="18" charset="0"/>
              </a:rPr>
              <a:t>detection sensors </a:t>
            </a:r>
            <a:r>
              <a:rPr lang="en-US" dirty="0">
                <a:latin typeface="Baskerville Old Face" panose="02020602080505020303" pitchFamily="18" charset="0"/>
              </a:rPr>
              <a:t>. This system uses </a:t>
            </a:r>
            <a:r>
              <a:rPr lang="en-US" b="1" u="sng" dirty="0" smtClean="0">
                <a:latin typeface="Baskerville Old Face" panose="02020602080505020303" pitchFamily="18" charset="0"/>
              </a:rPr>
              <a:t>single </a:t>
            </a:r>
            <a:r>
              <a:rPr lang="en-US" b="1" u="sng" dirty="0">
                <a:latin typeface="Baskerville Old Face" panose="02020602080505020303" pitchFamily="18" charset="0"/>
              </a:rPr>
              <a:t>board computer </a:t>
            </a:r>
            <a:r>
              <a:rPr lang="en-US" dirty="0" smtClean="0">
                <a:latin typeface="Baskerville Old Face" panose="02020602080505020303" pitchFamily="18" charset="0"/>
              </a:rPr>
              <a:t>with </a:t>
            </a:r>
            <a:r>
              <a:rPr lang="en-US" b="1" u="sng" dirty="0" smtClean="0">
                <a:latin typeface="Baskerville Old Face" panose="02020602080505020303" pitchFamily="18" charset="0"/>
              </a:rPr>
              <a:t>microprocessor</a:t>
            </a:r>
            <a:r>
              <a:rPr lang="en-US" b="1" dirty="0" smtClean="0">
                <a:latin typeface="Baskerville Old Face" panose="02020602080505020303" pitchFamily="18" charset="0"/>
              </a:rPr>
              <a:t> </a:t>
            </a:r>
            <a:r>
              <a:rPr lang="en-US" dirty="0" smtClean="0">
                <a:latin typeface="Baskerville Old Face" panose="02020602080505020303" pitchFamily="18" charset="0"/>
              </a:rPr>
              <a:t>to </a:t>
            </a:r>
            <a:r>
              <a:rPr lang="en-US" dirty="0">
                <a:latin typeface="Baskerville Old Face" panose="02020602080505020303" pitchFamily="18" charset="0"/>
              </a:rPr>
              <a:t>alert the concerned. The system is fitted with </a:t>
            </a:r>
            <a:r>
              <a:rPr lang="en-US" dirty="0" smtClean="0">
                <a:latin typeface="Baskerville Old Face" panose="02020602080505020303" pitchFamily="18" charset="0"/>
              </a:rPr>
              <a:t>an </a:t>
            </a:r>
            <a:r>
              <a:rPr lang="en-US" b="1" u="sng" dirty="0">
                <a:latin typeface="Baskerville Old Face" panose="02020602080505020303" pitchFamily="18" charset="0"/>
              </a:rPr>
              <a:t>ultrasonic </a:t>
            </a:r>
            <a:r>
              <a:rPr lang="en-US" b="1" u="sng" dirty="0" smtClean="0">
                <a:latin typeface="Baskerville Old Face" panose="02020602080505020303" pitchFamily="18" charset="0"/>
              </a:rPr>
              <a:t>sensor</a:t>
            </a:r>
            <a:r>
              <a:rPr lang="en-US" dirty="0" smtClean="0">
                <a:latin typeface="Baskerville Old Face" panose="02020602080505020303" pitchFamily="18" charset="0"/>
              </a:rPr>
              <a:t>. </a:t>
            </a:r>
            <a:r>
              <a:rPr lang="en-US" dirty="0">
                <a:latin typeface="Baskerville Old Face" panose="02020602080505020303" pitchFamily="18" charset="0"/>
              </a:rPr>
              <a:t>The </a:t>
            </a:r>
            <a:r>
              <a:rPr lang="en-US" dirty="0" smtClean="0">
                <a:latin typeface="Baskerville Old Face" panose="02020602080505020303" pitchFamily="18" charset="0"/>
              </a:rPr>
              <a:t>system </a:t>
            </a:r>
            <a:r>
              <a:rPr lang="en-US" dirty="0">
                <a:latin typeface="Baskerville Old Face" panose="02020602080505020303" pitchFamily="18" charset="0"/>
              </a:rPr>
              <a:t>alerts the blind person of walking route and also alerts others about the blind person at night through </a:t>
            </a:r>
            <a:r>
              <a:rPr lang="en-US" dirty="0" smtClean="0">
                <a:latin typeface="Baskerville Old Face" panose="02020602080505020303" pitchFamily="18" charset="0"/>
              </a:rPr>
              <a:t>led </a:t>
            </a:r>
            <a:r>
              <a:rPr lang="en-US" dirty="0">
                <a:latin typeface="Baskerville Old Face" panose="02020602080505020303" pitchFamily="18" charset="0"/>
              </a:rPr>
              <a:t>fitted with </a:t>
            </a:r>
            <a:r>
              <a:rPr lang="en-US" dirty="0" smtClean="0">
                <a:latin typeface="Baskerville Old Face" panose="02020602080505020303" pitchFamily="18" charset="0"/>
              </a:rPr>
              <a:t>it.</a:t>
            </a:r>
          </a:p>
          <a:p>
            <a:pPr marL="457200" lvl="1" indent="0">
              <a:buNone/>
            </a:pPr>
            <a:r>
              <a:rPr lang="en-US" dirty="0" smtClean="0">
                <a:latin typeface="Baskerville Old Face" panose="02020602080505020303" pitchFamily="18" charset="0"/>
              </a:rPr>
              <a:t>The </a:t>
            </a:r>
            <a:r>
              <a:rPr lang="en-US" dirty="0">
                <a:latin typeface="Baskerville Old Face" panose="02020602080505020303" pitchFamily="18" charset="0"/>
              </a:rPr>
              <a:t>ultrasonic sensors fitted with the system provides obstacle data to the blind person through </a:t>
            </a:r>
            <a:r>
              <a:rPr lang="en-US" b="1" u="sng" dirty="0" smtClean="0">
                <a:latin typeface="Baskerville Old Face" panose="02020602080505020303" pitchFamily="18" charset="0"/>
              </a:rPr>
              <a:t>alert </a:t>
            </a:r>
            <a:r>
              <a:rPr lang="en-US" b="1" u="sng" dirty="0">
                <a:latin typeface="Baskerville Old Face" panose="02020602080505020303" pitchFamily="18" charset="0"/>
              </a:rPr>
              <a:t>message</a:t>
            </a:r>
            <a:r>
              <a:rPr lang="en-US" dirty="0">
                <a:latin typeface="Baskerville Old Face" panose="02020602080505020303" pitchFamily="18" charset="0"/>
              </a:rPr>
              <a:t> so that </a:t>
            </a:r>
            <a:r>
              <a:rPr lang="en-US" dirty="0" smtClean="0">
                <a:latin typeface="Baskerville Old Face" panose="02020602080505020303" pitchFamily="18" charset="0"/>
              </a:rPr>
              <a:t>he or she </a:t>
            </a:r>
            <a:r>
              <a:rPr lang="en-US" dirty="0">
                <a:latin typeface="Baskerville Old Face" panose="02020602080505020303" pitchFamily="18" charset="0"/>
              </a:rPr>
              <a:t>may avoid them. The </a:t>
            </a:r>
            <a:r>
              <a:rPr lang="en-US" dirty="0" smtClean="0">
                <a:latin typeface="Baskerville Old Face" panose="02020602080505020303" pitchFamily="18" charset="0"/>
              </a:rPr>
              <a:t>circuit </a:t>
            </a:r>
            <a:r>
              <a:rPr lang="en-US" dirty="0">
                <a:latin typeface="Baskerville Old Face" panose="02020602080505020303" pitchFamily="18" charset="0"/>
              </a:rPr>
              <a:t>coupled with </a:t>
            </a:r>
            <a:r>
              <a:rPr lang="en-US" b="1" u="sng" dirty="0" smtClean="0">
                <a:latin typeface="Baskerville Old Face" panose="02020602080505020303" pitchFamily="18" charset="0"/>
              </a:rPr>
              <a:t>LED</a:t>
            </a:r>
            <a:r>
              <a:rPr lang="en-US" dirty="0" smtClean="0">
                <a:latin typeface="Baskerville Old Face" panose="02020602080505020303" pitchFamily="18" charset="0"/>
              </a:rPr>
              <a:t> to let </a:t>
            </a:r>
            <a:r>
              <a:rPr lang="en-US" dirty="0">
                <a:latin typeface="Baskerville Old Face" panose="02020602080505020303" pitchFamily="18" charset="0"/>
              </a:rPr>
              <a:t>other people and vehicles aware about the blind person in the dark. </a:t>
            </a:r>
            <a:r>
              <a:rPr lang="en-US" dirty="0" smtClean="0">
                <a:latin typeface="Baskerville Old Face" panose="02020602080505020303" pitchFamily="18" charset="0"/>
              </a:rPr>
              <a:t>This single board computer </a:t>
            </a:r>
            <a:r>
              <a:rPr lang="en-US" dirty="0">
                <a:latin typeface="Baskerville Old Face" panose="02020602080505020303" pitchFamily="18" charset="0"/>
              </a:rPr>
              <a:t>does all the work of detecting ultrasonic signals and sending back respective messages to the blind person.Thus the system provides </a:t>
            </a:r>
            <a:r>
              <a:rPr lang="en-US" b="1" u="sng" dirty="0">
                <a:latin typeface="Baskerville Old Face" panose="02020602080505020303" pitchFamily="18" charset="0"/>
              </a:rPr>
              <a:t>complete guidance and protection </a:t>
            </a:r>
            <a:r>
              <a:rPr lang="en-US" dirty="0">
                <a:latin typeface="Baskerville Old Face" panose="02020602080505020303" pitchFamily="18" charset="0"/>
              </a:rPr>
              <a:t>to a blind person under various circumstances.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3" y="1565189"/>
            <a:ext cx="4192037" cy="4316627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Raspberry-Pi (System On Chip)                                               </a:t>
            </a:r>
          </a:p>
          <a:p>
            <a:pPr lvl="1"/>
            <a:r>
              <a:rPr lang="en-US" dirty="0"/>
              <a:t>PCB Board</a:t>
            </a:r>
          </a:p>
          <a:p>
            <a:pPr lvl="1"/>
            <a:r>
              <a:rPr lang="en-US" dirty="0"/>
              <a:t>Vibrating </a:t>
            </a:r>
            <a:r>
              <a:rPr lang="en-US" dirty="0" smtClean="0"/>
              <a:t>Motor</a:t>
            </a:r>
          </a:p>
          <a:p>
            <a:pPr lvl="1"/>
            <a:r>
              <a:rPr lang="en-US" dirty="0" smtClean="0"/>
              <a:t>Motor Driver</a:t>
            </a:r>
            <a:endParaRPr lang="en-US" dirty="0"/>
          </a:p>
          <a:p>
            <a:pPr lvl="1"/>
            <a:r>
              <a:rPr lang="en-US" dirty="0"/>
              <a:t>LED Indicators (Optional)</a:t>
            </a:r>
          </a:p>
          <a:p>
            <a:pPr lvl="1"/>
            <a:r>
              <a:rPr lang="en-US" dirty="0"/>
              <a:t>Earphones</a:t>
            </a:r>
          </a:p>
          <a:p>
            <a:pPr lvl="1"/>
            <a:r>
              <a:rPr lang="en-US" dirty="0"/>
              <a:t>Ultrasonic Sensor</a:t>
            </a:r>
          </a:p>
          <a:p>
            <a:pPr lvl="1"/>
            <a:r>
              <a:rPr lang="en-US" dirty="0"/>
              <a:t>Jumper Cables</a:t>
            </a:r>
          </a:p>
          <a:p>
            <a:pPr lvl="1"/>
            <a:r>
              <a:rPr lang="en-US" dirty="0"/>
              <a:t>Small Battery </a:t>
            </a:r>
            <a:r>
              <a:rPr lang="en-US" dirty="0" smtClean="0"/>
              <a:t>(9-10 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Switch</a:t>
            </a:r>
          </a:p>
          <a:p>
            <a:pPr lvl="1"/>
            <a:r>
              <a:rPr lang="en-US" dirty="0"/>
              <a:t>Handy or Wearable Material</a:t>
            </a:r>
          </a:p>
          <a:p>
            <a:pPr marL="0" lvl="0" indent="0">
              <a:buNone/>
            </a:pP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1539" y="1565189"/>
            <a:ext cx="3976077" cy="38367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Python</a:t>
            </a:r>
            <a:r>
              <a:rPr lang="en-US" dirty="0" smtClean="0"/>
              <a:t>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Mu</a:t>
            </a:r>
            <a:r>
              <a:rPr lang="en-US" dirty="0" smtClean="0"/>
              <a:t> python ide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Thonny python </a:t>
            </a:r>
            <a:r>
              <a:rPr lang="en-US" dirty="0" smtClean="0"/>
              <a:t>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Open source</a:t>
            </a:r>
            <a:r>
              <a:rPr lang="en-US" b="1" u="sng" dirty="0" smtClean="0"/>
              <a:t> Fritzing </a:t>
            </a:r>
            <a:r>
              <a:rPr lang="en-US" dirty="0" smtClean="0"/>
              <a:t>CAD software to design circuit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 and  hardware  requirements</a:t>
            </a:r>
            <a:endParaRPr lang="en-US" dirty="0"/>
          </a:p>
        </p:txBody>
      </p:sp>
      <p:pic>
        <p:nvPicPr>
          <p:cNvPr id="5" name="Graphic 4" descr="Man and Woman icon">
            <a:extLst>
              <a:ext uri="{FF2B5EF4-FFF2-40B4-BE49-F238E27FC236}">
                <a16:creationId xmlns:a16="http://schemas.microsoft.com/office/drawing/2014/main" id="{2DED0F48-76A7-437D-9746-E2DF97A1C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853742" y="216211"/>
            <a:ext cx="1122450" cy="112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3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363" y="1566688"/>
            <a:ext cx="3859952" cy="260989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5700584" y="1608118"/>
            <a:ext cx="5135255" cy="4520833"/>
          </a:xfrm>
        </p:spPr>
        <p:txBody>
          <a:bodyPr>
            <a:normAutofit fontScale="25000" lnSpcReduction="20000"/>
          </a:bodyPr>
          <a:lstStyle/>
          <a:p>
            <a:r>
              <a:rPr lang="en-US" sz="6200" dirty="0"/>
              <a:t>The Raspberry Pi 3 Model B+ </a:t>
            </a:r>
            <a:r>
              <a:rPr lang="en-US" sz="6200" dirty="0" smtClean="0"/>
              <a:t>consists of,</a:t>
            </a:r>
            <a:endParaRPr lang="en-US" sz="6200" dirty="0"/>
          </a:p>
          <a:p>
            <a:pPr marL="514350" indent="-514350">
              <a:buFont typeface="+mj-lt"/>
              <a:buAutoNum type="arabicParenR"/>
            </a:pPr>
            <a:r>
              <a:rPr lang="en-US" sz="4500" b="1" u="sng" dirty="0" smtClean="0"/>
              <a:t>Broadcom pocessor </a:t>
            </a:r>
            <a:r>
              <a:rPr lang="en-US" sz="4500" b="1" u="sng" dirty="0"/>
              <a:t>BCM2837B0</a:t>
            </a:r>
            <a:r>
              <a:rPr lang="en-US" sz="4500" dirty="0"/>
              <a:t>, Cortex-A53 (ARMv8) 64-bit SoC @ 1.4GHz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b="1" u="sng" dirty="0"/>
              <a:t>1GB </a:t>
            </a:r>
            <a:r>
              <a:rPr lang="en-US" sz="4500" b="1" u="sng" dirty="0" smtClean="0"/>
              <a:t>RAM</a:t>
            </a:r>
            <a:endParaRPr lang="en-US" sz="4500" b="1" u="sng" dirty="0"/>
          </a:p>
          <a:p>
            <a:pPr marL="514350" indent="-514350">
              <a:buFont typeface="+mj-lt"/>
              <a:buAutoNum type="arabicParenR"/>
            </a:pPr>
            <a:r>
              <a:rPr lang="en-US" sz="4500" dirty="0"/>
              <a:t>2.4GHz and 5GHz IEEE 802.11.b/g/n/ac </a:t>
            </a:r>
            <a:r>
              <a:rPr lang="en-US" sz="4500" b="1" u="sng" dirty="0"/>
              <a:t>wireless </a:t>
            </a:r>
            <a:r>
              <a:rPr lang="en-US" sz="4500" b="1" u="sng" dirty="0" smtClean="0"/>
              <a:t>LAN </a:t>
            </a:r>
            <a:r>
              <a:rPr lang="en-US" sz="4500" dirty="0" smtClean="0"/>
              <a:t>and </a:t>
            </a:r>
            <a:r>
              <a:rPr lang="en-US" sz="4500" b="1" u="sng" dirty="0"/>
              <a:t>Bluetooth 4.2, BLE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dirty="0"/>
              <a:t>Gigabit Ethernet over USB 2.0 (maximum throughput 300 Mbps)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dirty="0"/>
              <a:t>Extended </a:t>
            </a:r>
            <a:r>
              <a:rPr lang="en-US" sz="4500" b="1" u="sng" dirty="0"/>
              <a:t>40-pin GPIO </a:t>
            </a:r>
            <a:r>
              <a:rPr lang="en-US" sz="4500" b="1" u="sng" dirty="0" smtClean="0"/>
              <a:t>header</a:t>
            </a:r>
            <a:r>
              <a:rPr lang="en-US" sz="4500" dirty="0" smtClean="0"/>
              <a:t> (General Purpose Input Output)</a:t>
            </a:r>
            <a:endParaRPr lang="en-US" sz="4500" dirty="0"/>
          </a:p>
          <a:p>
            <a:pPr marL="514350" indent="-514350">
              <a:buFont typeface="+mj-lt"/>
              <a:buAutoNum type="arabicParenR"/>
            </a:pPr>
            <a:r>
              <a:rPr lang="en-US" sz="4500" b="1" u="sng" dirty="0"/>
              <a:t>Full-size HDMI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dirty="0"/>
              <a:t>4 </a:t>
            </a:r>
            <a:r>
              <a:rPr lang="en-US" sz="4500" b="1" u="sng" dirty="0"/>
              <a:t>USB</a:t>
            </a:r>
            <a:r>
              <a:rPr lang="en-US" sz="4500" dirty="0"/>
              <a:t> 2.0 ports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dirty="0"/>
              <a:t>CSI camera port for connecting a </a:t>
            </a:r>
            <a:r>
              <a:rPr lang="en-US" sz="4500" dirty="0" smtClean="0"/>
              <a:t>Raspberry-Pi </a:t>
            </a:r>
            <a:r>
              <a:rPr lang="en-US" sz="4500" dirty="0"/>
              <a:t>camera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dirty="0"/>
              <a:t>DSI display port for connecting a </a:t>
            </a:r>
            <a:r>
              <a:rPr lang="en-US" sz="4500" dirty="0" smtClean="0"/>
              <a:t>Raspberry-Pi </a:t>
            </a:r>
            <a:r>
              <a:rPr lang="en-US" sz="4500" dirty="0"/>
              <a:t>touchscreen display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dirty="0"/>
              <a:t>4-pole stereo output and composite video port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b="1" u="sng" dirty="0"/>
              <a:t>Micro SD </a:t>
            </a:r>
            <a:r>
              <a:rPr lang="en-US" sz="4500" dirty="0"/>
              <a:t>port for loading your operating system and storing data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dirty="0"/>
              <a:t>5V/2.5A DC power input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4500" b="1" u="sng" dirty="0"/>
              <a:t>Power-over-Ethernet (PoE) </a:t>
            </a:r>
            <a:r>
              <a:rPr lang="en-US" sz="4500" dirty="0"/>
              <a:t>support (requires separate PoE HAT</a:t>
            </a:r>
            <a:r>
              <a:rPr lang="en-US" sz="4500" dirty="0" smtClean="0"/>
              <a:t>) </a:t>
            </a:r>
            <a:endParaRPr lang="en-US" sz="4500" dirty="0"/>
          </a:p>
          <a:p>
            <a:endParaRPr lang="en-US" sz="4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used…</a:t>
            </a:r>
            <a:endParaRPr lang="en-US" dirty="0"/>
          </a:p>
        </p:txBody>
      </p:sp>
      <p:pic>
        <p:nvPicPr>
          <p:cNvPr id="6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84045" y="340011"/>
            <a:ext cx="1044000" cy="10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66335" y="4341341"/>
            <a:ext cx="3517557" cy="25537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Raspberry-Pi 3 Model B +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93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5700584" y="1608118"/>
            <a:ext cx="5135255" cy="4520833"/>
          </a:xfrm>
        </p:spPr>
        <p:txBody>
          <a:bodyPr>
            <a:normAutofit/>
          </a:bodyPr>
          <a:lstStyle/>
          <a:p>
            <a:r>
              <a:rPr lang="en-US" sz="2600" dirty="0" smtClean="0"/>
              <a:t>The ultrasonic sensor consists of,</a:t>
            </a:r>
            <a:endParaRPr lang="en-US" sz="2600" dirty="0"/>
          </a:p>
          <a:p>
            <a:pPr marL="514350" indent="-514350">
              <a:buFont typeface="+mj-lt"/>
              <a:buAutoNum type="arabicParenR"/>
            </a:pPr>
            <a:r>
              <a:rPr lang="en-US" sz="1800" dirty="0"/>
              <a:t> </a:t>
            </a:r>
            <a:r>
              <a:rPr lang="en-US" sz="1800" dirty="0" smtClean="0"/>
              <a:t>VCC Pin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 smtClean="0"/>
              <a:t>Trigger Pin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 smtClean="0"/>
              <a:t>Echo Pin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 smtClean="0"/>
              <a:t>Ground Pin</a:t>
            </a:r>
          </a:p>
          <a:p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used…</a:t>
            </a:r>
            <a:endParaRPr lang="en-US" dirty="0"/>
          </a:p>
        </p:txBody>
      </p:sp>
      <p:pic>
        <p:nvPicPr>
          <p:cNvPr id="6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884045" y="340011"/>
            <a:ext cx="1044000" cy="10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66335" y="4341341"/>
            <a:ext cx="3517557" cy="25537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Ultrasonic Sensor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10" y="1329136"/>
            <a:ext cx="4608194" cy="32675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2838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5700584" y="1608119"/>
            <a:ext cx="5135255" cy="4537308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 smtClean="0"/>
              <a:t>vibration motor consists of,</a:t>
            </a: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1100" dirty="0" smtClean="0"/>
              <a:t>Positive End (+ve)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100" dirty="0" smtClean="0"/>
              <a:t>Negative End (-ve)</a:t>
            </a:r>
          </a:p>
          <a:p>
            <a:endParaRPr lang="en-US" sz="1100" dirty="0"/>
          </a:p>
          <a:p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The wired earphones has one audio jack and two </a:t>
            </a:r>
            <a:r>
              <a:rPr lang="en-US" dirty="0" smtClean="0"/>
              <a:t>speakers which will help individual to give alert.</a:t>
            </a:r>
            <a:endParaRPr lang="en-US" dirty="0"/>
          </a:p>
          <a:p>
            <a:endParaRPr lang="en-US" sz="4500" dirty="0"/>
          </a:p>
          <a:p>
            <a:endParaRPr lang="en-US" sz="4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used…</a:t>
            </a:r>
            <a:endParaRPr lang="en-US" dirty="0"/>
          </a:p>
        </p:txBody>
      </p:sp>
      <p:pic>
        <p:nvPicPr>
          <p:cNvPr id="6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884045" y="340011"/>
            <a:ext cx="1044000" cy="10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14616" y="3131377"/>
            <a:ext cx="3517557" cy="25537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Vibration Motor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335" y="1535083"/>
            <a:ext cx="1631092" cy="15458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00000">
            <a:off x="2839739" y="1536407"/>
            <a:ext cx="2302476" cy="1475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844" y="3648223"/>
            <a:ext cx="2652584" cy="12285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Rectangle 11"/>
          <p:cNvSpPr/>
          <p:nvPr/>
        </p:nvSpPr>
        <p:spPr>
          <a:xfrm>
            <a:off x="1614616" y="5272216"/>
            <a:ext cx="3517557" cy="24713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Wired Earphones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23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5214552" y="1590100"/>
            <a:ext cx="5621288" cy="4135198"/>
          </a:xfrm>
        </p:spPr>
        <p:txBody>
          <a:bodyPr numCol="1">
            <a:normAutofit fontScale="92500"/>
          </a:bodyPr>
          <a:lstStyle/>
          <a:p>
            <a:r>
              <a:rPr lang="en-US" sz="2400" dirty="0"/>
              <a:t>The </a:t>
            </a:r>
            <a:r>
              <a:rPr lang="en-US" sz="2400" dirty="0" smtClean="0"/>
              <a:t>L298N motor driver module consists of,</a:t>
            </a:r>
            <a:endParaRPr lang="en-US" sz="1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ENB (Pulse-Width Modulation For Motor)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IN4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IN3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IN2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IN1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ENA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4 Output Ports (i.e OUT1, OUT2, OUT3, OUT4)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5V PIN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GND PIN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100" dirty="0" smtClean="0"/>
              <a:t>12V PIN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Battery to power up the system</a:t>
            </a:r>
            <a:r>
              <a:rPr lang="en-US" sz="1100" dirty="0" smtClean="0"/>
              <a:t>.</a:t>
            </a:r>
          </a:p>
          <a:p>
            <a:endParaRPr lang="en-US" sz="1100" dirty="0"/>
          </a:p>
          <a:p>
            <a:endParaRPr lang="en-US" sz="1100" dirty="0" smtClean="0"/>
          </a:p>
          <a:p>
            <a:endParaRPr lang="en-US" sz="4500" dirty="0"/>
          </a:p>
          <a:p>
            <a:endParaRPr lang="en-US" sz="4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used…</a:t>
            </a:r>
            <a:endParaRPr lang="en-US" dirty="0"/>
          </a:p>
        </p:txBody>
      </p:sp>
      <p:pic>
        <p:nvPicPr>
          <p:cNvPr id="6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884045" y="340011"/>
            <a:ext cx="1044000" cy="10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14616" y="3131377"/>
            <a:ext cx="3517557" cy="25537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L298N Motor Driver Module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14616" y="5272216"/>
            <a:ext cx="3517557" cy="24713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Battery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699" y="3871784"/>
            <a:ext cx="2677297" cy="11516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34" y="1590099"/>
            <a:ext cx="2899720" cy="14169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625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075" y="1694545"/>
            <a:ext cx="7290487" cy="346346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3894066" y="5283990"/>
            <a:ext cx="3600000" cy="30888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Detail description of GPIO pins of raspberry-pi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8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666" y="1639330"/>
            <a:ext cx="9315972" cy="417658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 of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8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363" y="1664044"/>
            <a:ext cx="9603275" cy="411891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 relationship diagram of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90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64043"/>
            <a:ext cx="9143999" cy="431662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Circuit Diagram of system using </a:t>
            </a:r>
            <a:r>
              <a:rPr lang="en-US" dirty="0" err="1" smtClean="0"/>
              <a:t>fritzing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66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362" y="1548215"/>
            <a:ext cx="9504421" cy="412765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95509" y="498980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Output image of the program </a:t>
            </a:r>
            <a:br>
              <a:rPr lang="en-US" sz="2800" dirty="0" smtClean="0"/>
            </a:br>
            <a:r>
              <a:rPr lang="en-US" sz="2800" dirty="0" smtClean="0"/>
              <a:t>(real vnc viewer)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136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DCED45-CA91-495F-8329-49163D40BC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62851" y="1708519"/>
            <a:ext cx="8802688" cy="1191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THANK</a:t>
            </a:r>
            <a:r>
              <a:rPr lang="en-US" dirty="0">
                <a:solidFill>
                  <a:srgbClr val="3A3A3A"/>
                </a:solidFill>
              </a:rPr>
              <a:t>  YOU</a:t>
            </a:r>
          </a:p>
        </p:txBody>
      </p:sp>
    </p:spTree>
    <p:extLst>
      <p:ext uri="{BB962C8B-B14F-4D97-AF65-F5344CB8AC3E}">
        <p14:creationId xmlns:p14="http://schemas.microsoft.com/office/powerpoint/2010/main" val="41016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My invention presentation_AAS_v5" id="{87E5ADC5-22B1-48B6-A377-CC62C9F76903}" vid="{35D6D025-A430-4CAD-B81F-81678F6B39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1DB373-C1A1-4924-9AF2-F04368201509}">
  <ds:schemaRefs>
    <ds:schemaRef ds:uri="http://purl.org/dc/elements/1.1/"/>
    <ds:schemaRef ds:uri="71af3243-3dd4-4a8d-8c0d-dd76da1f02a5"/>
    <ds:schemaRef ds:uri="16c05727-aa75-4e4a-9b5f-8a80a1165891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59C8665-7E41-4E8E-957E-307F6F826A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A01955-FFEB-4169-B0BF-D790410D62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0</TotalTime>
  <Words>380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Baskerville Old Face</vt:lpstr>
      <vt:lpstr>Calibri</vt:lpstr>
      <vt:lpstr>Gill Sans MT</vt:lpstr>
      <vt:lpstr>Snap ITC</vt:lpstr>
      <vt:lpstr>Tahoma</vt:lpstr>
      <vt:lpstr>Wingdings</vt:lpstr>
      <vt:lpstr>Gallery</vt:lpstr>
      <vt:lpstr>Ultrasonic navigation system for blind people</vt:lpstr>
      <vt:lpstr>introduction</vt:lpstr>
      <vt:lpstr>Software  and  hardware  requirements</vt:lpstr>
      <vt:lpstr>Components used…</vt:lpstr>
      <vt:lpstr>Components used…</vt:lpstr>
      <vt:lpstr>Components used…</vt:lpstr>
      <vt:lpstr>Components used…</vt:lpstr>
      <vt:lpstr>CONNECTIONS</vt:lpstr>
      <vt:lpstr>Block diagram of system</vt:lpstr>
      <vt:lpstr>Entity relationship diagram of system</vt:lpstr>
      <vt:lpstr>Circuit Diagram of system using fritzing</vt:lpstr>
      <vt:lpstr>Output image of the program  (real vnc viewer)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2021-02-12T06:38:58Z</dcterms:created>
  <dcterms:modified xsi:type="dcterms:W3CDTF">2021-04-09T06:06:03Z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